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</p:sldIdLst>
  <p:sldSz cx="18288000" cy="10287000"/>
  <p:notesSz cx="6858000" cy="9144000"/>
  <p:embeddedFontLst>
    <p:embeddedFont>
      <p:font typeface="Helvetica World" panose="020B0604020202020204" charset="-128"/>
      <p:regular r:id="rId5"/>
    </p:embeddedFont>
    <p:embeddedFont>
      <p:font typeface="Helvetica World Bold" panose="020B0604020202020204" charset="-128"/>
      <p:regular r:id="rId6"/>
    </p:embeddedFont>
    <p:embeddedFont>
      <p:font typeface="Calibri" panose="020F0502020204030204" pitchFamily="34" charset="0"/>
      <p:regular r:id="rId7"/>
      <p:bold r:id="rId8"/>
      <p:italic r:id="rId9"/>
      <p:boldItalic r:id="rId10"/>
    </p:embeddedFont>
    <p:embeddedFont>
      <p:font typeface="HK Grotesk Bold" panose="020B0604020202020204" charset="0"/>
      <p:regular r:id="rId11"/>
    </p:embeddedFont>
    <p:embeddedFont>
      <p:font typeface="HK Grotesk Medium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2" d="100"/>
          <a:sy n="72" d="100"/>
        </p:scale>
        <p:origin x="654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theme" Target="theme/theme1.xml"/><Relationship Id="rId10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font" Target="fonts/font5.fntdata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6954500" cy="8953500"/>
            <a:chOff x="0" y="0"/>
            <a:chExt cx="4465383" cy="23581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F3F6FA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465383" cy="24057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407964" y="733425"/>
            <a:ext cx="9763125" cy="2787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199"/>
              </a:lnSpc>
            </a:pPr>
            <a:r>
              <a:rPr lang="en-US" sz="7999" b="1" dirty="0">
                <a:solidFill>
                  <a:srgbClr val="0B132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What Problem Are</a:t>
            </a:r>
          </a:p>
          <a:p>
            <a:pPr marL="0" lvl="0" indent="0" algn="l">
              <a:lnSpc>
                <a:spcPts val="11199"/>
              </a:lnSpc>
            </a:pPr>
            <a:r>
              <a:rPr lang="en-US" sz="7999" b="1" dirty="0">
                <a:solidFill>
                  <a:srgbClr val="1C3F6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We Solving?</a:t>
            </a:r>
          </a:p>
        </p:txBody>
      </p:sp>
      <p:sp>
        <p:nvSpPr>
          <p:cNvPr id="6" name="Freeform 6"/>
          <p:cNvSpPr/>
          <p:nvPr/>
        </p:nvSpPr>
        <p:spPr>
          <a:xfrm rot="-3117037">
            <a:off x="16099474" y="795272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407963" y="3498724"/>
            <a:ext cx="15862989" cy="56071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074"/>
              </a:lnSpc>
            </a:pPr>
            <a:r>
              <a:rPr lang="en-US" sz="2499" b="1" dirty="0">
                <a:solidFill>
                  <a:srgbClr val="0B132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Customers want fast answers about their orders.</a:t>
            </a:r>
          </a:p>
          <a:p>
            <a:pPr algn="l">
              <a:lnSpc>
                <a:spcPts val="6074"/>
              </a:lnSpc>
            </a:pPr>
            <a:r>
              <a:rPr lang="en-US" sz="2499" b="1" dirty="0">
                <a:solidFill>
                  <a:srgbClr val="0B132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Until now, agents had to manually check Shopify or wait on middleware systems that sometimes delay updates.</a:t>
            </a:r>
          </a:p>
          <a:p>
            <a:pPr algn="l">
              <a:lnSpc>
                <a:spcPts val="6074"/>
              </a:lnSpc>
            </a:pPr>
            <a:r>
              <a:rPr lang="en-US" sz="2499" b="1" dirty="0">
                <a:solidFill>
                  <a:srgbClr val="0B132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This leads to: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0B132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•Slow response times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0B132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•Inconsistent answers</a:t>
            </a:r>
          </a:p>
          <a:p>
            <a:pPr algn="l">
              <a:lnSpc>
                <a:spcPts val="3499"/>
              </a:lnSpc>
            </a:pPr>
            <a:r>
              <a:rPr lang="en-US" sz="2499" b="1" dirty="0">
                <a:solidFill>
                  <a:srgbClr val="0B132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•Extra workload during rush periods</a:t>
            </a:r>
          </a:p>
          <a:p>
            <a:pPr algn="l">
              <a:lnSpc>
                <a:spcPts val="3499"/>
              </a:lnSpc>
            </a:pPr>
            <a:r>
              <a:rPr lang="en-US" sz="2499" b="1" dirty="0">
                <a:solidFill>
                  <a:srgbClr val="0B132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•Occasional syncing delays</a:t>
            </a:r>
          </a:p>
          <a:p>
            <a:pPr algn="l">
              <a:lnSpc>
                <a:spcPts val="6074"/>
              </a:lnSpc>
            </a:pPr>
            <a:endParaRPr lang="en-US" sz="2499" b="1" dirty="0">
              <a:solidFill>
                <a:srgbClr val="0B1320"/>
              </a:solidFill>
              <a:latin typeface="HK Grotesk Medium"/>
              <a:ea typeface="HK Grotesk Medium"/>
              <a:cs typeface="HK Grotesk Medium"/>
              <a:sym typeface="HK Grotesk Medium"/>
            </a:endParaRPr>
          </a:p>
          <a:p>
            <a:pPr algn="l">
              <a:lnSpc>
                <a:spcPts val="6074"/>
              </a:lnSpc>
            </a:pPr>
            <a:r>
              <a:rPr lang="en-US" sz="2499" b="1" dirty="0">
                <a:solidFill>
                  <a:srgbClr val="0B132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The goal: Give customers real-time, reliable order updates instantly.</a:t>
            </a:r>
          </a:p>
        </p:txBody>
      </p:sp>
      <p:sp>
        <p:nvSpPr>
          <p:cNvPr id="8" name="AutoShape 8"/>
          <p:cNvSpPr/>
          <p:nvPr/>
        </p:nvSpPr>
        <p:spPr>
          <a:xfrm flipV="1">
            <a:off x="1143000" y="5251114"/>
            <a:ext cx="0" cy="2467235"/>
          </a:xfrm>
          <a:prstGeom prst="line">
            <a:avLst/>
          </a:prstGeom>
          <a:ln w="85725" cap="flat">
            <a:solidFill>
              <a:srgbClr val="1C3F6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5152" y="666750"/>
            <a:ext cx="16954500" cy="8953500"/>
            <a:chOff x="0" y="0"/>
            <a:chExt cx="4465383" cy="23581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F3F6FA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465383" cy="24057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89253" y="2891897"/>
            <a:ext cx="17709494" cy="7068251"/>
            <a:chOff x="0" y="0"/>
            <a:chExt cx="145939494" cy="58247680"/>
          </a:xfrm>
        </p:grpSpPr>
        <p:sp>
          <p:nvSpPr>
            <p:cNvPr id="6" name="Freeform 6"/>
            <p:cNvSpPr/>
            <p:nvPr/>
          </p:nvSpPr>
          <p:spPr>
            <a:xfrm>
              <a:off x="72390" y="72390"/>
              <a:ext cx="145794713" cy="58102899"/>
            </a:xfrm>
            <a:custGeom>
              <a:avLst/>
              <a:gdLst/>
              <a:ahLst/>
              <a:cxnLst/>
              <a:rect l="l" t="t" r="r" b="b"/>
              <a:pathLst>
                <a:path w="145794713" h="58102899">
                  <a:moveTo>
                    <a:pt x="0" y="0"/>
                  </a:moveTo>
                  <a:lnTo>
                    <a:pt x="145794713" y="0"/>
                  </a:lnTo>
                  <a:lnTo>
                    <a:pt x="145794713" y="58102899"/>
                  </a:lnTo>
                  <a:lnTo>
                    <a:pt x="0" y="581028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C3F60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145939495" cy="58247682"/>
            </a:xfrm>
            <a:custGeom>
              <a:avLst/>
              <a:gdLst/>
              <a:ahLst/>
              <a:cxnLst/>
              <a:rect l="l" t="t" r="r" b="b"/>
              <a:pathLst>
                <a:path w="145939495" h="58247682">
                  <a:moveTo>
                    <a:pt x="145794710" y="58102903"/>
                  </a:moveTo>
                  <a:lnTo>
                    <a:pt x="145939495" y="58102903"/>
                  </a:lnTo>
                  <a:lnTo>
                    <a:pt x="145939495" y="58247682"/>
                  </a:lnTo>
                  <a:lnTo>
                    <a:pt x="145794710" y="58247682"/>
                  </a:lnTo>
                  <a:lnTo>
                    <a:pt x="145794710" y="58102903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58102903"/>
                  </a:lnTo>
                  <a:lnTo>
                    <a:pt x="0" y="58102903"/>
                  </a:lnTo>
                  <a:lnTo>
                    <a:pt x="0" y="144780"/>
                  </a:lnTo>
                  <a:close/>
                  <a:moveTo>
                    <a:pt x="0" y="58102903"/>
                  </a:moveTo>
                  <a:lnTo>
                    <a:pt x="144780" y="58102903"/>
                  </a:lnTo>
                  <a:lnTo>
                    <a:pt x="144780" y="58247682"/>
                  </a:lnTo>
                  <a:lnTo>
                    <a:pt x="0" y="58247682"/>
                  </a:lnTo>
                  <a:lnTo>
                    <a:pt x="0" y="58102903"/>
                  </a:lnTo>
                  <a:close/>
                  <a:moveTo>
                    <a:pt x="145794710" y="144780"/>
                  </a:moveTo>
                  <a:lnTo>
                    <a:pt x="145939495" y="144780"/>
                  </a:lnTo>
                  <a:lnTo>
                    <a:pt x="145939495" y="58102903"/>
                  </a:lnTo>
                  <a:lnTo>
                    <a:pt x="145794710" y="58102903"/>
                  </a:lnTo>
                  <a:lnTo>
                    <a:pt x="145794710" y="144780"/>
                  </a:lnTo>
                  <a:close/>
                  <a:moveTo>
                    <a:pt x="144780" y="58102903"/>
                  </a:moveTo>
                  <a:lnTo>
                    <a:pt x="145794710" y="58102903"/>
                  </a:lnTo>
                  <a:lnTo>
                    <a:pt x="145794710" y="58247682"/>
                  </a:lnTo>
                  <a:lnTo>
                    <a:pt x="144780" y="58247682"/>
                  </a:lnTo>
                  <a:lnTo>
                    <a:pt x="144780" y="58102903"/>
                  </a:lnTo>
                  <a:close/>
                  <a:moveTo>
                    <a:pt x="145794710" y="0"/>
                  </a:moveTo>
                  <a:lnTo>
                    <a:pt x="145939495" y="0"/>
                  </a:lnTo>
                  <a:lnTo>
                    <a:pt x="145939495" y="144780"/>
                  </a:lnTo>
                  <a:lnTo>
                    <a:pt x="145794710" y="144780"/>
                  </a:lnTo>
                  <a:lnTo>
                    <a:pt x="145794710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45794710" y="0"/>
                  </a:lnTo>
                  <a:lnTo>
                    <a:pt x="145794710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B1320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2401386" y="1114425"/>
            <a:ext cx="13282033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600"/>
              </a:lnSpc>
            </a:pPr>
            <a:r>
              <a:rPr lang="en-US" sz="8000" b="1">
                <a:solidFill>
                  <a:srgbClr val="0B132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How the Automation Works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00225" y="3258600"/>
            <a:ext cx="12944475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40"/>
              </a:lnSpc>
              <a:spcBef>
                <a:spcPct val="0"/>
              </a:spcBef>
            </a:pPr>
            <a:r>
              <a:rPr lang="en-US" sz="2200" b="1" spc="176">
                <a:solidFill>
                  <a:srgbClr val="F3F6FA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INSTANT ORDER UPDATES VIA CHATBOT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00225" y="8710711"/>
            <a:ext cx="7494566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 b="1" spc="176">
                <a:solidFill>
                  <a:srgbClr val="F3F6FA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THE WHOLE PROCESS TAKES OVER ONE SECOND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800225" y="3924525"/>
            <a:ext cx="8284520" cy="759329"/>
            <a:chOff x="0" y="0"/>
            <a:chExt cx="11046027" cy="1012439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11046027" cy="1012439"/>
              <a:chOff x="0" y="0"/>
              <a:chExt cx="2181931" cy="199988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181931" cy="199988"/>
              </a:xfrm>
              <a:custGeom>
                <a:avLst/>
                <a:gdLst/>
                <a:ahLst/>
                <a:cxnLst/>
                <a:rect l="l" t="t" r="r" b="b"/>
                <a:pathLst>
                  <a:path w="2181931" h="199988">
                    <a:moveTo>
                      <a:pt x="14952" y="0"/>
                    </a:moveTo>
                    <a:lnTo>
                      <a:pt x="2166979" y="0"/>
                    </a:lnTo>
                    <a:cubicBezTo>
                      <a:pt x="2170945" y="0"/>
                      <a:pt x="2174748" y="1575"/>
                      <a:pt x="2177552" y="4379"/>
                    </a:cubicBezTo>
                    <a:cubicBezTo>
                      <a:pt x="2180356" y="7183"/>
                      <a:pt x="2181931" y="10987"/>
                      <a:pt x="2181931" y="14952"/>
                    </a:cubicBezTo>
                    <a:lnTo>
                      <a:pt x="2181931" y="185036"/>
                    </a:lnTo>
                    <a:cubicBezTo>
                      <a:pt x="2181931" y="189001"/>
                      <a:pt x="2180356" y="192804"/>
                      <a:pt x="2177552" y="195609"/>
                    </a:cubicBezTo>
                    <a:cubicBezTo>
                      <a:pt x="2174748" y="198413"/>
                      <a:pt x="2170945" y="199988"/>
                      <a:pt x="2166979" y="199988"/>
                    </a:cubicBezTo>
                    <a:lnTo>
                      <a:pt x="14952" y="199988"/>
                    </a:lnTo>
                    <a:cubicBezTo>
                      <a:pt x="10987" y="199988"/>
                      <a:pt x="7183" y="198413"/>
                      <a:pt x="4379" y="195609"/>
                    </a:cubicBezTo>
                    <a:cubicBezTo>
                      <a:pt x="1575" y="192804"/>
                      <a:pt x="0" y="189001"/>
                      <a:pt x="0" y="185036"/>
                    </a:cubicBezTo>
                    <a:lnTo>
                      <a:pt x="0" y="14952"/>
                    </a:lnTo>
                    <a:cubicBezTo>
                      <a:pt x="0" y="10987"/>
                      <a:pt x="1575" y="7183"/>
                      <a:pt x="4379" y="4379"/>
                    </a:cubicBezTo>
                    <a:cubicBezTo>
                      <a:pt x="7183" y="1575"/>
                      <a:pt x="10987" y="0"/>
                      <a:pt x="14952" y="0"/>
                    </a:cubicBezTo>
                    <a:close/>
                  </a:path>
                </a:pathLst>
              </a:custGeom>
              <a:solidFill>
                <a:srgbClr val="F3F6FA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47625"/>
                <a:ext cx="2181931" cy="24761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1013085" y="235497"/>
              <a:ext cx="8778615" cy="51031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3080"/>
                </a:lnSpc>
                <a:spcBef>
                  <a:spcPct val="0"/>
                </a:spcBef>
              </a:pPr>
              <a:r>
                <a:rPr lang="en-US" sz="2200" b="1" dirty="0">
                  <a:solidFill>
                    <a:srgbClr val="0B1320"/>
                  </a:solidFill>
                  <a:latin typeface="HK Grotesk Medium"/>
                  <a:ea typeface="HK Grotesk Medium"/>
                  <a:cs typeface="HK Grotesk Medium"/>
                  <a:sym typeface="HK Grotesk Medium"/>
                </a:rPr>
                <a:t>The customer asks the chatbot about their order.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88900" y="116854"/>
              <a:ext cx="799709" cy="799709"/>
              <a:chOff x="0" y="0"/>
              <a:chExt cx="812800" cy="8128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C3F60">
                  <a:alpha val="37647"/>
                </a:srgbClr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233214" y="230324"/>
              <a:ext cx="511081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 spc="192">
                  <a:solidFill>
                    <a:srgbClr val="0B132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800225" y="4760054"/>
            <a:ext cx="8336524" cy="754098"/>
            <a:chOff x="0" y="0"/>
            <a:chExt cx="11115366" cy="1005463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11046027" cy="1005463"/>
              <a:chOff x="0" y="0"/>
              <a:chExt cx="2181931" cy="19861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2181931" cy="198610"/>
              </a:xfrm>
              <a:custGeom>
                <a:avLst/>
                <a:gdLst/>
                <a:ahLst/>
                <a:cxnLst/>
                <a:rect l="l" t="t" r="r" b="b"/>
                <a:pathLst>
                  <a:path w="2181931" h="198610">
                    <a:moveTo>
                      <a:pt x="14952" y="0"/>
                    </a:moveTo>
                    <a:lnTo>
                      <a:pt x="2166979" y="0"/>
                    </a:lnTo>
                    <a:cubicBezTo>
                      <a:pt x="2170945" y="0"/>
                      <a:pt x="2174748" y="1575"/>
                      <a:pt x="2177552" y="4379"/>
                    </a:cubicBezTo>
                    <a:cubicBezTo>
                      <a:pt x="2180356" y="7183"/>
                      <a:pt x="2181931" y="10987"/>
                      <a:pt x="2181931" y="14952"/>
                    </a:cubicBezTo>
                    <a:lnTo>
                      <a:pt x="2181931" y="183658"/>
                    </a:lnTo>
                    <a:cubicBezTo>
                      <a:pt x="2181931" y="191916"/>
                      <a:pt x="2175237" y="198610"/>
                      <a:pt x="2166979" y="198610"/>
                    </a:cubicBezTo>
                    <a:lnTo>
                      <a:pt x="14952" y="198610"/>
                    </a:lnTo>
                    <a:cubicBezTo>
                      <a:pt x="10987" y="198610"/>
                      <a:pt x="7183" y="197035"/>
                      <a:pt x="4379" y="194231"/>
                    </a:cubicBezTo>
                    <a:cubicBezTo>
                      <a:pt x="1575" y="191427"/>
                      <a:pt x="0" y="187624"/>
                      <a:pt x="0" y="183658"/>
                    </a:cubicBezTo>
                    <a:lnTo>
                      <a:pt x="0" y="14952"/>
                    </a:lnTo>
                    <a:cubicBezTo>
                      <a:pt x="0" y="10987"/>
                      <a:pt x="1575" y="7183"/>
                      <a:pt x="4379" y="4379"/>
                    </a:cubicBezTo>
                    <a:cubicBezTo>
                      <a:pt x="7183" y="1575"/>
                      <a:pt x="10987" y="0"/>
                      <a:pt x="14952" y="0"/>
                    </a:cubicBezTo>
                    <a:close/>
                  </a:path>
                </a:pathLst>
              </a:custGeom>
              <a:solidFill>
                <a:srgbClr val="F3F6FA"/>
              </a:solidFill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0" y="-47625"/>
                <a:ext cx="2181931" cy="24623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1013084" y="221521"/>
              <a:ext cx="10102282" cy="51031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3080"/>
                </a:lnSpc>
                <a:spcBef>
                  <a:spcPct val="0"/>
                </a:spcBef>
              </a:pPr>
              <a:r>
                <a:rPr lang="en-US" sz="2200" b="1" dirty="0">
                  <a:solidFill>
                    <a:srgbClr val="0B1320"/>
                  </a:solidFill>
                  <a:latin typeface="HK Grotesk Medium"/>
                  <a:ea typeface="HK Grotesk Medium"/>
                  <a:cs typeface="HK Grotesk Medium"/>
                  <a:sym typeface="HK Grotesk Medium"/>
                </a:rPr>
                <a:t> The bot sends the order number to our secure lookup tool.</a:t>
              </a: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88900" y="102877"/>
              <a:ext cx="799709" cy="799709"/>
              <a:chOff x="0" y="0"/>
              <a:chExt cx="812800" cy="8128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C3F60">
                  <a:alpha val="37647"/>
                </a:srgbClr>
              </a:solidFill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233214" y="216347"/>
              <a:ext cx="511081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 spc="192">
                  <a:solidFill>
                    <a:srgbClr val="0B132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800225" y="5590352"/>
            <a:ext cx="8284520" cy="754098"/>
            <a:chOff x="0" y="0"/>
            <a:chExt cx="11046027" cy="1005463"/>
          </a:xfrm>
        </p:grpSpPr>
        <p:grpSp>
          <p:nvGrpSpPr>
            <p:cNvPr id="30" name="Group 30"/>
            <p:cNvGrpSpPr/>
            <p:nvPr/>
          </p:nvGrpSpPr>
          <p:grpSpPr>
            <a:xfrm>
              <a:off x="0" y="0"/>
              <a:ext cx="11046027" cy="1005463"/>
              <a:chOff x="0" y="0"/>
              <a:chExt cx="2181931" cy="19861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2181931" cy="198610"/>
              </a:xfrm>
              <a:custGeom>
                <a:avLst/>
                <a:gdLst/>
                <a:ahLst/>
                <a:cxnLst/>
                <a:rect l="l" t="t" r="r" b="b"/>
                <a:pathLst>
                  <a:path w="2181931" h="198610">
                    <a:moveTo>
                      <a:pt x="14952" y="0"/>
                    </a:moveTo>
                    <a:lnTo>
                      <a:pt x="2166979" y="0"/>
                    </a:lnTo>
                    <a:cubicBezTo>
                      <a:pt x="2170945" y="0"/>
                      <a:pt x="2174748" y="1575"/>
                      <a:pt x="2177552" y="4379"/>
                    </a:cubicBezTo>
                    <a:cubicBezTo>
                      <a:pt x="2180356" y="7183"/>
                      <a:pt x="2181931" y="10987"/>
                      <a:pt x="2181931" y="14952"/>
                    </a:cubicBezTo>
                    <a:lnTo>
                      <a:pt x="2181931" y="183658"/>
                    </a:lnTo>
                    <a:cubicBezTo>
                      <a:pt x="2181931" y="191916"/>
                      <a:pt x="2175237" y="198610"/>
                      <a:pt x="2166979" y="198610"/>
                    </a:cubicBezTo>
                    <a:lnTo>
                      <a:pt x="14952" y="198610"/>
                    </a:lnTo>
                    <a:cubicBezTo>
                      <a:pt x="10987" y="198610"/>
                      <a:pt x="7183" y="197035"/>
                      <a:pt x="4379" y="194231"/>
                    </a:cubicBezTo>
                    <a:cubicBezTo>
                      <a:pt x="1575" y="191427"/>
                      <a:pt x="0" y="187624"/>
                      <a:pt x="0" y="183658"/>
                    </a:cubicBezTo>
                    <a:lnTo>
                      <a:pt x="0" y="14952"/>
                    </a:lnTo>
                    <a:cubicBezTo>
                      <a:pt x="0" y="10987"/>
                      <a:pt x="1575" y="7183"/>
                      <a:pt x="4379" y="4379"/>
                    </a:cubicBezTo>
                    <a:cubicBezTo>
                      <a:pt x="7183" y="1575"/>
                      <a:pt x="10987" y="0"/>
                      <a:pt x="14952" y="0"/>
                    </a:cubicBezTo>
                    <a:close/>
                  </a:path>
                </a:pathLst>
              </a:custGeom>
              <a:solidFill>
                <a:srgbClr val="F3F6FA"/>
              </a:solidFill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0" y="-47625"/>
                <a:ext cx="2181931" cy="24623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33" name="TextBox 33"/>
            <p:cNvSpPr txBox="1"/>
            <p:nvPr/>
          </p:nvSpPr>
          <p:spPr>
            <a:xfrm>
              <a:off x="1013086" y="221521"/>
              <a:ext cx="9757656" cy="4938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8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0B1320"/>
                  </a:solidFill>
                  <a:latin typeface="HK Grotesk Medium"/>
                  <a:ea typeface="HK Grotesk Medium"/>
                  <a:cs typeface="HK Grotesk Medium"/>
                  <a:sym typeface="HK Grotesk Medium"/>
                </a:rPr>
                <a:t> The tool checks Shopify directly </a:t>
              </a:r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88900" y="102877"/>
              <a:ext cx="799709" cy="799709"/>
              <a:chOff x="0" y="0"/>
              <a:chExt cx="812800" cy="8128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C3F60">
                  <a:alpha val="37647"/>
                </a:srgbClr>
              </a:solidFill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233214" y="216347"/>
              <a:ext cx="511081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 spc="192">
                  <a:solidFill>
                    <a:srgbClr val="0B132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3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800225" y="6420649"/>
            <a:ext cx="8284520" cy="1821655"/>
            <a:chOff x="0" y="0"/>
            <a:chExt cx="11046027" cy="2428874"/>
          </a:xfrm>
        </p:grpSpPr>
        <p:grpSp>
          <p:nvGrpSpPr>
            <p:cNvPr id="39" name="Group 39"/>
            <p:cNvGrpSpPr/>
            <p:nvPr/>
          </p:nvGrpSpPr>
          <p:grpSpPr>
            <a:xfrm>
              <a:off x="0" y="0"/>
              <a:ext cx="11046027" cy="2428874"/>
              <a:chOff x="0" y="0"/>
              <a:chExt cx="2181931" cy="479778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2181931" cy="479778"/>
              </a:xfrm>
              <a:custGeom>
                <a:avLst/>
                <a:gdLst/>
                <a:ahLst/>
                <a:cxnLst/>
                <a:rect l="l" t="t" r="r" b="b"/>
                <a:pathLst>
                  <a:path w="2181931" h="479778">
                    <a:moveTo>
                      <a:pt x="14952" y="0"/>
                    </a:moveTo>
                    <a:lnTo>
                      <a:pt x="2166979" y="0"/>
                    </a:lnTo>
                    <a:cubicBezTo>
                      <a:pt x="2170945" y="0"/>
                      <a:pt x="2174748" y="1575"/>
                      <a:pt x="2177552" y="4379"/>
                    </a:cubicBezTo>
                    <a:cubicBezTo>
                      <a:pt x="2180356" y="7183"/>
                      <a:pt x="2181931" y="10987"/>
                      <a:pt x="2181931" y="14952"/>
                    </a:cubicBezTo>
                    <a:lnTo>
                      <a:pt x="2181931" y="464825"/>
                    </a:lnTo>
                    <a:cubicBezTo>
                      <a:pt x="2181931" y="473083"/>
                      <a:pt x="2175237" y="479778"/>
                      <a:pt x="2166979" y="479778"/>
                    </a:cubicBezTo>
                    <a:lnTo>
                      <a:pt x="14952" y="479778"/>
                    </a:lnTo>
                    <a:cubicBezTo>
                      <a:pt x="10987" y="479778"/>
                      <a:pt x="7183" y="478202"/>
                      <a:pt x="4379" y="475398"/>
                    </a:cubicBezTo>
                    <a:cubicBezTo>
                      <a:pt x="1575" y="472594"/>
                      <a:pt x="0" y="468791"/>
                      <a:pt x="0" y="464825"/>
                    </a:cubicBezTo>
                    <a:lnTo>
                      <a:pt x="0" y="14952"/>
                    </a:lnTo>
                    <a:cubicBezTo>
                      <a:pt x="0" y="10987"/>
                      <a:pt x="1575" y="7183"/>
                      <a:pt x="4379" y="4379"/>
                    </a:cubicBezTo>
                    <a:cubicBezTo>
                      <a:pt x="7183" y="1575"/>
                      <a:pt x="10987" y="0"/>
                      <a:pt x="14952" y="0"/>
                    </a:cubicBezTo>
                    <a:close/>
                  </a:path>
                </a:pathLst>
              </a:custGeom>
              <a:solidFill>
                <a:srgbClr val="F3F6FA"/>
              </a:solidFill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0" y="-47625"/>
                <a:ext cx="2181931" cy="52740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42" name="TextBox 42"/>
            <p:cNvSpPr txBox="1"/>
            <p:nvPr/>
          </p:nvSpPr>
          <p:spPr>
            <a:xfrm>
              <a:off x="1013086" y="221521"/>
              <a:ext cx="9757656" cy="20559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8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0B1320"/>
                  </a:solidFill>
                  <a:latin typeface="HK Grotesk Medium"/>
                  <a:ea typeface="HK Grotesk Medium"/>
                  <a:cs typeface="HK Grotesk Medium"/>
                  <a:sym typeface="HK Grotesk Medium"/>
                </a:rPr>
                <a:t>It returns:</a:t>
              </a:r>
            </a:p>
            <a:p>
              <a:pPr marL="474981" lvl="1" indent="-237491" algn="l">
                <a:lnSpc>
                  <a:spcPts val="308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200" b="1">
                  <a:solidFill>
                    <a:srgbClr val="0B1320"/>
                  </a:solidFill>
                  <a:latin typeface="HK Grotesk Medium"/>
                  <a:ea typeface="HK Grotesk Medium"/>
                  <a:cs typeface="HK Grotesk Medium"/>
                  <a:sym typeface="HK Grotesk Medium"/>
                </a:rPr>
                <a:t>What was ordered</a:t>
              </a:r>
            </a:p>
            <a:p>
              <a:pPr marL="474981" lvl="1" indent="-237491" algn="l">
                <a:lnSpc>
                  <a:spcPts val="308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200" b="1">
                  <a:solidFill>
                    <a:srgbClr val="0B1320"/>
                  </a:solidFill>
                  <a:latin typeface="HK Grotesk Medium"/>
                  <a:ea typeface="HK Grotesk Medium"/>
                  <a:cs typeface="HK Grotesk Medium"/>
                  <a:sym typeface="HK Grotesk Medium"/>
                </a:rPr>
                <a:t>Price</a:t>
              </a:r>
            </a:p>
            <a:p>
              <a:pPr marL="474981" lvl="1" indent="-237491" algn="l">
                <a:lnSpc>
                  <a:spcPts val="308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200" b="1">
                  <a:solidFill>
                    <a:srgbClr val="0B1320"/>
                  </a:solidFill>
                  <a:latin typeface="HK Grotesk Medium"/>
                  <a:ea typeface="HK Grotesk Medium"/>
                  <a:cs typeface="HK Grotesk Medium"/>
                  <a:sym typeface="HK Grotesk Medium"/>
                </a:rPr>
                <a:t>Whether it's delivered or still in progress</a:t>
              </a:r>
            </a:p>
          </p:txBody>
        </p:sp>
        <p:grpSp>
          <p:nvGrpSpPr>
            <p:cNvPr id="43" name="Group 43"/>
            <p:cNvGrpSpPr/>
            <p:nvPr/>
          </p:nvGrpSpPr>
          <p:grpSpPr>
            <a:xfrm>
              <a:off x="88900" y="102877"/>
              <a:ext cx="799709" cy="799709"/>
              <a:chOff x="0" y="0"/>
              <a:chExt cx="812800" cy="81280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C3F60">
                  <a:alpha val="37647"/>
                </a:srgbClr>
              </a:solidFill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46" name="TextBox 46"/>
            <p:cNvSpPr txBox="1"/>
            <p:nvPr/>
          </p:nvSpPr>
          <p:spPr>
            <a:xfrm>
              <a:off x="233214" y="216347"/>
              <a:ext cx="511081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 spc="192">
                  <a:solidFill>
                    <a:srgbClr val="0B132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6954500" cy="8953500"/>
            <a:chOff x="0" y="0"/>
            <a:chExt cx="4465383" cy="23581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0B1320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-592282" y="-617682"/>
            <a:ext cx="8007927" cy="11501582"/>
          </a:xfrm>
          <a:prstGeom prst="rect">
            <a:avLst/>
          </a:prstGeom>
          <a:solidFill>
            <a:srgbClr val="1C3F60"/>
          </a:solidFill>
        </p:spPr>
      </p:sp>
      <p:grpSp>
        <p:nvGrpSpPr>
          <p:cNvPr id="6" name="Group 6"/>
          <p:cNvGrpSpPr/>
          <p:nvPr/>
        </p:nvGrpSpPr>
        <p:grpSpPr>
          <a:xfrm>
            <a:off x="1028700" y="1028700"/>
            <a:ext cx="5340119" cy="3695848"/>
            <a:chOff x="0" y="0"/>
            <a:chExt cx="7120159" cy="4927798"/>
          </a:xfrm>
        </p:grpSpPr>
        <p:sp>
          <p:nvSpPr>
            <p:cNvPr id="7" name="AutoShape 7"/>
            <p:cNvSpPr/>
            <p:nvPr/>
          </p:nvSpPr>
          <p:spPr>
            <a:xfrm>
              <a:off x="0" y="4733834"/>
              <a:ext cx="2770909" cy="193964"/>
            </a:xfrm>
            <a:prstGeom prst="rect">
              <a:avLst/>
            </a:prstGeom>
            <a:solidFill>
              <a:srgbClr val="F3F6FA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7120159" cy="4267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679"/>
                </a:lnSpc>
              </a:pPr>
              <a:r>
                <a:rPr lang="en-US" sz="6399" b="1" spc="-95">
                  <a:solidFill>
                    <a:srgbClr val="F3F6FA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Key benefits for customers and agents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8157696" y="1402334"/>
            <a:ext cx="9101604" cy="7251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</a:pPr>
            <a:r>
              <a:rPr lang="en-US" sz="2499" b="1" spc="-37">
                <a:solidFill>
                  <a:srgbClr val="F3F6F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For customers: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spc="-37">
                <a:solidFill>
                  <a:srgbClr val="F3F6F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Faster, more accurate updates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spc="-37">
                <a:solidFill>
                  <a:srgbClr val="F3F6F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No external delays</a:t>
            </a:r>
          </a:p>
          <a:p>
            <a:pPr marL="0" lvl="0" indent="0" algn="l">
              <a:lnSpc>
                <a:spcPts val="3499"/>
              </a:lnSpc>
            </a:pPr>
            <a:endParaRPr lang="en-US" sz="2499" spc="-37">
              <a:solidFill>
                <a:srgbClr val="F3F6FA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marL="0" lvl="0" indent="0" algn="l">
              <a:lnSpc>
                <a:spcPts val="3499"/>
              </a:lnSpc>
            </a:pPr>
            <a:r>
              <a:rPr lang="en-US" sz="2499" b="1" spc="-37">
                <a:solidFill>
                  <a:srgbClr val="F3F6F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For agents: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spc="-37">
                <a:solidFill>
                  <a:srgbClr val="F3F6F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Elimination of manual Shopify searches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spc="-37">
                <a:solidFill>
                  <a:srgbClr val="F3F6F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Clear 'order not found' messages when applicable</a:t>
            </a:r>
          </a:p>
          <a:p>
            <a:pPr marL="0" lvl="0" indent="0" algn="l">
              <a:lnSpc>
                <a:spcPts val="3499"/>
              </a:lnSpc>
            </a:pPr>
            <a:endParaRPr lang="en-US" sz="2499" spc="-37">
              <a:solidFill>
                <a:srgbClr val="F3F6FA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marL="0" lvl="0" indent="0" algn="l">
              <a:lnSpc>
                <a:spcPts val="3499"/>
              </a:lnSpc>
            </a:pPr>
            <a:r>
              <a:rPr lang="en-US" sz="2499" b="1" spc="-37">
                <a:solidFill>
                  <a:srgbClr val="F3F6F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Security measures: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spc="-37">
                <a:solidFill>
                  <a:srgbClr val="F3F6F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Lookup tool protected with Basic Auth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spc="-37">
                <a:solidFill>
                  <a:srgbClr val="F3F6F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No data stored outside Shopify</a:t>
            </a:r>
          </a:p>
          <a:p>
            <a:pPr marL="0" lvl="0" indent="0" algn="l">
              <a:lnSpc>
                <a:spcPts val="3499"/>
              </a:lnSpc>
            </a:pPr>
            <a:endParaRPr lang="en-US" sz="2499" spc="-37">
              <a:solidFill>
                <a:srgbClr val="F3F6FA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marL="0" lvl="0" indent="0" algn="l">
              <a:lnSpc>
                <a:spcPts val="3499"/>
              </a:lnSpc>
            </a:pPr>
            <a:r>
              <a:rPr lang="en-US" sz="2499" b="1" spc="-37">
                <a:solidFill>
                  <a:srgbClr val="F3F6F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The automation ultimately reduces workload, speeds up service, and significantly improves customer experience, ensuring that both customers and agents benefit from a streamlined order management process.</a:t>
            </a:r>
          </a:p>
        </p:txBody>
      </p:sp>
      <p:sp>
        <p:nvSpPr>
          <p:cNvPr id="10" name="Freeform 10" descr="Arrow Shaped Brushstroke Doodle"/>
          <p:cNvSpPr/>
          <p:nvPr/>
        </p:nvSpPr>
        <p:spPr>
          <a:xfrm>
            <a:off x="1895667" y="6071872"/>
            <a:ext cx="3550053" cy="3124046"/>
          </a:xfrm>
          <a:custGeom>
            <a:avLst/>
            <a:gdLst/>
            <a:ahLst/>
            <a:cxnLst/>
            <a:rect l="l" t="t" r="r" b="b"/>
            <a:pathLst>
              <a:path w="3550053" h="3124046">
                <a:moveTo>
                  <a:pt x="0" y="0"/>
                </a:moveTo>
                <a:lnTo>
                  <a:pt x="3550053" y="0"/>
                </a:lnTo>
                <a:lnTo>
                  <a:pt x="3550053" y="3124046"/>
                </a:lnTo>
                <a:lnTo>
                  <a:pt x="0" y="31240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205</Words>
  <Application>Microsoft Office PowerPoint</Application>
  <PresentationFormat>Personnalisé</PresentationFormat>
  <Paragraphs>39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10" baseType="lpstr">
      <vt:lpstr>Helvetica World</vt:lpstr>
      <vt:lpstr>Calibri</vt:lpstr>
      <vt:lpstr>HK Grotesk Bold</vt:lpstr>
      <vt:lpstr>HK Grotesk Medium</vt:lpstr>
      <vt:lpstr>Arial</vt:lpstr>
      <vt:lpstr>Helvetica World Bold</vt:lpstr>
      <vt:lpstr>Office Theme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Current Challenges in Order Lookup</dc:title>
  <dc:description>Présentation - In today's fast-paced environment, customers expect immediate answers to their inquiries about orders. Unfortunately, our current processes present several challenges:
- Slo</dc:description>
  <cp:lastModifiedBy>HP</cp:lastModifiedBy>
  <cp:revision>3</cp:revision>
  <dcterms:created xsi:type="dcterms:W3CDTF">2006-08-16T00:00:00Z</dcterms:created>
  <dcterms:modified xsi:type="dcterms:W3CDTF">2025-11-30T10:40:11Z</dcterms:modified>
  <dc:identifier>DAG6KO3392g</dc:identifier>
</cp:coreProperties>
</file>